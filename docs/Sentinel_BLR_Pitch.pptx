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2" r:id="rId7"/>
    <p:sldId id="263" r:id="rId8"/>
    <p:sldId id="261" r:id="rId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7" d="100"/>
          <a:sy n="87" d="100"/>
        </p:scale>
        <p:origin x="499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070163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0:00–0:18 OPENING (both on camera). A: "We're Team Rocket." Every traffic-AI asks: was a violation detected? B: "We ask a second question no deployed Indian system asks — is the evidence good enough to fine someone?"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0:18–0:52 THE PROBLEM (A). 26,000 wrong challans in Hyderabad last year — detector and plate-reader drifted out of sync. Bengaluru's own police say their AI still can't do wrong-side driving. Detecting isn't the gap; trusting a detection 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0:52–1:33 THE ERS (A). Every detection gets one number 0–100. Five inputs. It routes itself: 85+ auto-fine, 60–84 human review, under 60 discard. Clear day 93 → fine. Heavy rain, mud 47 → discarded. Weak evidence cannot become a fine.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1:33–2:42 SYSTEM + WHAT'S OURS (B). Standard pipeline underneath. These four are ours: calibration heartbeat (re-aligns a drifting camera every 15 min without stopping enforcement), 5-frame OCR fusion (recovers a plate from mud/rain), YAML policy engine (police change a rule in &lt;1 min, no engineer), and the ERS gate on top. Triple riding can NEVER auto-fine — a human always signs off. We'd rather miss a violation than wrongly accuse someone.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2:42–3:10 DEPLOYMENT (B then A). One packet, one score, one decision — this is what an officer sees. It starts at 10 junctions pulled from real violation data, each next phase a measured gate not a calendar date. Runs on Bengaluru's existing CCTV plus a small edge box per junction — phase one is lakhs, not crores. Grounded in real MV Act sections and the new DPDP 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3:10–3:25 CLOSE (both). B: "Most systems decide whether to fine." A: "Ours decides whether it should — and it knows when it's wrong." Both: "Sentinel-BLR. Thank you."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0515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300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FLIPKART GRIDLOCK 2.0     ·     THEME 3     ·     TEAM ROCKET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749808" y="1417320"/>
            <a:ext cx="10515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400" b="1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SENTINEL-BLR</a:t>
            </a:r>
            <a:endParaRPr lang="en-US" sz="8400" dirty="0"/>
          </a:p>
        </p:txBody>
      </p:sp>
      <p:sp>
        <p:nvSpPr>
          <p:cNvPr id="4" name="Text 2"/>
          <p:cNvSpPr/>
          <p:nvPr/>
        </p:nvSpPr>
        <p:spPr>
          <a:xfrm>
            <a:off x="822960" y="278892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500" dirty="0">
                <a:solidFill>
                  <a:srgbClr val="9AA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Evidence-Quality Automated Traffic Enforcement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822960" y="3657600"/>
            <a:ext cx="10515600" cy="1554480"/>
          </a:xfrm>
          <a:prstGeom prst="roundRect">
            <a:avLst>
              <a:gd name="adj" fmla="val 5882"/>
            </a:avLst>
          </a:prstGeom>
          <a:solidFill>
            <a:srgbClr val="141A2E"/>
          </a:solidFill>
          <a:ln w="12700">
            <a:solidFill>
              <a:srgbClr val="2A3350"/>
            </a:solidFill>
            <a:prstDash val="solid"/>
          </a:ln>
          <a:effectLst>
            <a:outerShdw blurRad="114300" dist="381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188720" y="3657600"/>
            <a:ext cx="9784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2100" dirty="0">
                <a:solidFill>
                  <a:srgbClr val="9AA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traffic-AI system asks one question: </a:t>
            </a:r>
            <a:r>
              <a:rPr lang="en-US" sz="2100" b="1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a violation detected?</a:t>
            </a:r>
            <a:endParaRPr lang="en-US" sz="2100" dirty="0"/>
          </a:p>
          <a:p>
            <a:pPr marL="0" indent="0" algn="l">
              <a:lnSpc>
                <a:spcPct val="125000"/>
              </a:lnSpc>
              <a:buNone/>
            </a:pPr>
            <a:r>
              <a:rPr lang="en-US" sz="2100" dirty="0">
                <a:solidFill>
                  <a:srgbClr val="9AA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built one that asks a second: </a:t>
            </a:r>
            <a:r>
              <a:rPr lang="en-US" sz="2100" b="1" i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evidence good enough to fine someone?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841248" y="5532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6B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ERS   ·   a single 0–100 reliability score on every detection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300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749808" y="1051560"/>
            <a:ext cx="6400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26,000</a:t>
            </a:r>
            <a:endParaRPr lang="en-US" sz="11000" dirty="0"/>
          </a:p>
        </p:txBody>
      </p:sp>
      <p:sp>
        <p:nvSpPr>
          <p:cNvPr id="4" name="Text 2"/>
          <p:cNvSpPr/>
          <p:nvPr/>
        </p:nvSpPr>
        <p:spPr>
          <a:xfrm>
            <a:off x="822960" y="2697480"/>
            <a:ext cx="5852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 challans  —  Hyderabad, 2025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22960" y="3383280"/>
            <a:ext cx="5760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800" dirty="0">
                <a:solidFill>
                  <a:srgbClr val="9AA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Their violation detector and their plate reader silently drifted out of sync. Fines went to the wrong vehicles — some to cars in a completely different part of the city.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040880" y="1188720"/>
            <a:ext cx="4389120" cy="3657600"/>
          </a:xfrm>
          <a:prstGeom prst="roundRect">
            <a:avLst>
              <a:gd name="adj" fmla="val 2500"/>
            </a:avLst>
          </a:prstGeom>
          <a:solidFill>
            <a:srgbClr val="141A2E"/>
          </a:solidFill>
          <a:ln w="12700">
            <a:solidFill>
              <a:srgbClr val="2A3350"/>
            </a:solidFill>
            <a:prstDash val="solid"/>
          </a:ln>
          <a:effectLst>
            <a:outerShdw blurRad="114300" dist="381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360920" y="150876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150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THE RECORD — BENGALURU, 2024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7360920" y="2057400"/>
            <a:ext cx="37947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2000"/>
              </a:lnSpc>
              <a:buNone/>
            </a:pPr>
            <a:r>
              <a:rPr lang="en-US" sz="1900" dirty="0">
                <a:solidFill>
                  <a:srgbClr val="9AA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Bengaluru Traffic Police confirmed their AI </a:t>
            </a:r>
            <a:r>
              <a:rPr lang="en-US" sz="1900" b="1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still cannot detect wrong-side driving</a:t>
            </a:r>
            <a:r>
              <a:rPr lang="en-US" sz="1900" dirty="0">
                <a:solidFill>
                  <a:srgbClr val="9AA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those cases are registered </a:t>
            </a:r>
            <a:r>
              <a:rPr lang="en-US" sz="1900" b="1" i="1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“by a manual process.”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822960" y="571500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i="1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Detecting violations is already solved. Knowing which detections are reliable enough to enforce on is not.</a:t>
            </a:r>
            <a:endParaRPr lang="en-US" sz="2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300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IDEA     ·     EVIDENCE RELIABILITY SCORE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22960" y="91440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number decides what happens to every detection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22960" y="1783080"/>
            <a:ext cx="10515600" cy="1234440"/>
          </a:xfrm>
          <a:prstGeom prst="roundRect">
            <a:avLst>
              <a:gd name="adj" fmla="val 7407"/>
            </a:avLst>
          </a:prstGeom>
          <a:solidFill>
            <a:srgbClr val="1A2138"/>
          </a:solidFill>
          <a:ln w="12700">
            <a:solidFill>
              <a:srgbClr val="2A3350"/>
            </a:solidFill>
            <a:prstDash val="solid"/>
          </a:ln>
          <a:effectLst>
            <a:outerShdw blurRad="114300" dist="381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1783080"/>
            <a:ext cx="103327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700" b="1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ERS </a:t>
            </a:r>
            <a:r>
              <a:rPr lang="en-US" sz="2700" dirty="0">
                <a:solidFill>
                  <a:srgbClr val="9AA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</a:t>
            </a:r>
            <a:r>
              <a:rPr lang="en-US" sz="27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0.30 C</a:t>
            </a:r>
            <a:r>
              <a:rPr lang="en-US" sz="2700" b="1" baseline="-400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</a:t>
            </a:r>
            <a:r>
              <a:rPr lang="en-US" sz="2700" dirty="0">
                <a:solidFill>
                  <a:srgbClr val="9AA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+  </a:t>
            </a:r>
            <a:r>
              <a:rPr lang="en-US" sz="27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0.25 C</a:t>
            </a:r>
            <a:r>
              <a:rPr lang="en-US" sz="2700" b="1" baseline="-4000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ocr</a:t>
            </a:r>
            <a:r>
              <a:rPr lang="en-US" sz="2700" dirty="0">
                <a:solidFill>
                  <a:srgbClr val="9AA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+  </a:t>
            </a:r>
            <a:r>
              <a:rPr lang="en-US" sz="27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0.20 R</a:t>
            </a:r>
            <a:r>
              <a:rPr lang="en-US" sz="2700" b="1" baseline="-40000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</a:t>
            </a:r>
            <a:r>
              <a:rPr lang="en-US" sz="2700" dirty="0">
                <a:solidFill>
                  <a:srgbClr val="9AA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+  </a:t>
            </a:r>
            <a:r>
              <a:rPr lang="en-US" sz="27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0.15 H</a:t>
            </a:r>
            <a:r>
              <a:rPr lang="en-US" sz="2700" b="1" baseline="-40000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</a:t>
            </a:r>
            <a:r>
              <a:rPr lang="en-US" sz="2700" dirty="0">
                <a:solidFill>
                  <a:srgbClr val="9AA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+  </a:t>
            </a:r>
            <a:r>
              <a:rPr lang="en-US" sz="2700" b="1" dirty="0">
                <a:solidFill>
                  <a:srgbClr val="F47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0.10 Q</a:t>
            </a:r>
            <a:r>
              <a:rPr lang="en-US" sz="2700" b="1" baseline="-40000" dirty="0">
                <a:solidFill>
                  <a:srgbClr val="F47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822960" y="31089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i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detection</a:t>
            </a:r>
            <a:r>
              <a:rPr lang="en-US" sz="1450" i="1" dirty="0">
                <a:solidFill>
                  <a:srgbClr val="6B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r>
              <a:rPr lang="en-US" sz="1450" i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plate read</a:t>
            </a:r>
            <a:r>
              <a:rPr lang="en-US" sz="1450" i="1" dirty="0">
                <a:solidFill>
                  <a:srgbClr val="6B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r>
              <a:rPr lang="en-US" sz="1450" i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multi-frame agreement</a:t>
            </a:r>
            <a:r>
              <a:rPr lang="en-US" sz="1450" i="1" dirty="0">
                <a:solidFill>
                  <a:srgbClr val="6B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r>
              <a:rPr lang="en-US" sz="1450" i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calibration</a:t>
            </a:r>
            <a:r>
              <a:rPr lang="en-US" sz="1450" i="1" dirty="0">
                <a:solidFill>
                  <a:srgbClr val="6B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r>
              <a:rPr lang="en-US" sz="1450" i="1" dirty="0">
                <a:solidFill>
                  <a:srgbClr val="F47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 quality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822960" y="3703320"/>
            <a:ext cx="3108960" cy="1691640"/>
          </a:xfrm>
          <a:prstGeom prst="roundRect">
            <a:avLst>
              <a:gd name="adj" fmla="val 5405"/>
            </a:avLst>
          </a:prstGeom>
          <a:solidFill>
            <a:srgbClr val="141A2E"/>
          </a:solidFill>
          <a:ln w="19050">
            <a:solidFill>
              <a:srgbClr val="34D399"/>
            </a:solidFill>
            <a:prstDash val="solid"/>
          </a:ln>
          <a:effectLst>
            <a:outerShdw blurRad="114300" dist="381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2960" y="388620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ERS ≥ 85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822960" y="443484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AUTO-FINE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960120" y="493776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9AA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day, clean plate  →  93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681728" y="3703320"/>
            <a:ext cx="3108960" cy="1691640"/>
          </a:xfrm>
          <a:prstGeom prst="roundRect">
            <a:avLst>
              <a:gd name="adj" fmla="val 5405"/>
            </a:avLst>
          </a:prstGeom>
          <a:solidFill>
            <a:srgbClr val="141A2E"/>
          </a:solidFill>
          <a:ln w="19050">
            <a:solidFill>
              <a:srgbClr val="FBBF24"/>
            </a:solidFill>
            <a:prstDash val="solid"/>
          </a:ln>
          <a:effectLst>
            <a:outerShdw blurRad="114300" dist="381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681728" y="388620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 – 84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4681728" y="443484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REVIEW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818888" y="493776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9AA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 rain, partial plate  →  75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8540496" y="3703320"/>
            <a:ext cx="3108960" cy="1691640"/>
          </a:xfrm>
          <a:prstGeom prst="roundRect">
            <a:avLst>
              <a:gd name="adj" fmla="val 5405"/>
            </a:avLst>
          </a:prstGeom>
          <a:solidFill>
            <a:srgbClr val="141A2E"/>
          </a:solidFill>
          <a:ln w="19050">
            <a:solidFill>
              <a:srgbClr val="F87171"/>
            </a:solidFill>
            <a:prstDash val="solid"/>
          </a:ln>
          <a:effectLst>
            <a:outerShdw blurRad="114300" dist="381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540496" y="388620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8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60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8540496" y="443484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DISCARD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8677656" y="493776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9AA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heavy rain, mud  →  47 · no record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22960" y="566928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900" b="1" i="1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 evidence structurally cannot become a fine.</a:t>
            </a:r>
            <a:endParaRPr lang="en-US" sz="1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300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PIPELINE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22960" y="91440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standard spine — and the four layers that are </a:t>
            </a:r>
            <a:r>
              <a:rPr lang="en-US" sz="3000" b="1" i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22960" y="2331720"/>
            <a:ext cx="1737360" cy="960120"/>
          </a:xfrm>
          <a:prstGeom prst="roundRect">
            <a:avLst>
              <a:gd name="adj" fmla="val 9524"/>
            </a:avLst>
          </a:prstGeom>
          <a:solidFill>
            <a:srgbClr val="141A2E"/>
          </a:solidFill>
          <a:ln w="12700">
            <a:solidFill>
              <a:srgbClr val="2A3350"/>
            </a:solidFill>
            <a:prstDash val="solid"/>
          </a:ln>
          <a:effectLst>
            <a:outerShdw blurRad="114300" dist="381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32688" y="2496312"/>
            <a:ext cx="151790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 Feed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932688" y="2880360"/>
            <a:ext cx="15179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AA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RTSP / ONVIF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743200" y="2331720"/>
            <a:ext cx="1737360" cy="960120"/>
          </a:xfrm>
          <a:prstGeom prst="roundRect">
            <a:avLst>
              <a:gd name="adj" fmla="val 9524"/>
            </a:avLst>
          </a:prstGeom>
          <a:solidFill>
            <a:srgbClr val="141A2E"/>
          </a:solidFill>
          <a:ln w="12700">
            <a:solidFill>
              <a:srgbClr val="2A3350"/>
            </a:solidFill>
            <a:prstDash val="solid"/>
          </a:ln>
          <a:effectLst>
            <a:outerShdw blurRad="114300" dist="381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2852928" y="2496312"/>
            <a:ext cx="151790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Preprocess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2852928" y="2880360"/>
            <a:ext cx="15179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AA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CLAHE · Retinex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663440" y="2331720"/>
            <a:ext cx="1737360" cy="960120"/>
          </a:xfrm>
          <a:prstGeom prst="roundRect">
            <a:avLst>
              <a:gd name="adj" fmla="val 9524"/>
            </a:avLst>
          </a:prstGeom>
          <a:solidFill>
            <a:srgbClr val="141A2E"/>
          </a:solidFill>
          <a:ln w="12700">
            <a:solidFill>
              <a:srgbClr val="2A3350"/>
            </a:solidFill>
            <a:prstDash val="solid"/>
          </a:ln>
          <a:effectLst>
            <a:outerShdw blurRad="114300" dist="381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773168" y="2496312"/>
            <a:ext cx="151790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Detection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4773168" y="2880360"/>
            <a:ext cx="15179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AA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YOLOv10 · ATS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583680" y="2331720"/>
            <a:ext cx="1828800" cy="960120"/>
          </a:xfrm>
          <a:prstGeom prst="roundRect">
            <a:avLst>
              <a:gd name="adj" fmla="val 9524"/>
            </a:avLst>
          </a:prstGeom>
          <a:solidFill>
            <a:srgbClr val="141A2E"/>
          </a:solidFill>
          <a:ln w="12700">
            <a:solidFill>
              <a:srgbClr val="2A3350"/>
            </a:solidFill>
            <a:prstDash val="solid"/>
          </a:ln>
          <a:effectLst>
            <a:outerShdw blurRad="114300" dist="381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693408" y="2496312"/>
            <a:ext cx="16093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Violation Engine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6693408" y="2880360"/>
            <a:ext cx="16093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AA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categories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686800" y="2331720"/>
            <a:ext cx="1874520" cy="960120"/>
          </a:xfrm>
          <a:prstGeom prst="roundRect">
            <a:avLst>
              <a:gd name="adj" fmla="val 9524"/>
            </a:avLst>
          </a:prstGeom>
          <a:solidFill>
            <a:srgbClr val="1A2138"/>
          </a:solidFill>
          <a:ln w="22860">
            <a:solidFill>
              <a:srgbClr val="A78BFA"/>
            </a:solidFill>
            <a:prstDash val="solid"/>
          </a:ln>
          <a:effectLst>
            <a:outerShdw blurRad="114300" dist="381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796528" y="2496312"/>
            <a:ext cx="16550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ERS Gate  ★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8796528" y="2880360"/>
            <a:ext cx="16550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AA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0–100 reliability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2560320" y="2811780"/>
            <a:ext cx="182880" cy="0"/>
          </a:xfrm>
          <a:prstGeom prst="line">
            <a:avLst/>
          </a:prstGeom>
          <a:noFill/>
          <a:ln w="19050">
            <a:solidFill>
              <a:srgbClr val="6B7490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4480560" y="2811780"/>
            <a:ext cx="182880" cy="0"/>
          </a:xfrm>
          <a:prstGeom prst="line">
            <a:avLst/>
          </a:prstGeom>
          <a:noFill/>
          <a:ln w="19050">
            <a:solidFill>
              <a:srgbClr val="6B7490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6400800" y="2811780"/>
            <a:ext cx="182880" cy="0"/>
          </a:xfrm>
          <a:prstGeom prst="line">
            <a:avLst/>
          </a:prstGeom>
          <a:noFill/>
          <a:ln w="19050">
            <a:solidFill>
              <a:srgbClr val="6B7490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8412480" y="2811780"/>
            <a:ext cx="274320" cy="0"/>
          </a:xfrm>
          <a:prstGeom prst="line">
            <a:avLst/>
          </a:prstGeom>
          <a:noFill/>
          <a:ln w="19050">
            <a:solidFill>
              <a:srgbClr val="6B7490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10835640" y="1828800"/>
            <a:ext cx="1280160" cy="502920"/>
          </a:xfrm>
          <a:prstGeom prst="roundRect">
            <a:avLst>
              <a:gd name="adj" fmla="val 18182"/>
            </a:avLst>
          </a:prstGeom>
          <a:solidFill>
            <a:srgbClr val="141A2E"/>
          </a:solidFill>
          <a:ln w="17780">
            <a:solidFill>
              <a:srgbClr val="34D399"/>
            </a:solidFill>
            <a:prstDash val="solid"/>
          </a:ln>
          <a:effectLst>
            <a:outerShdw blurRad="114300" dist="381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10835640" y="1828800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AUTO-FINE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10835640" y="2487168"/>
            <a:ext cx="1280160" cy="502920"/>
          </a:xfrm>
          <a:prstGeom prst="roundRect">
            <a:avLst>
              <a:gd name="adj" fmla="val 18182"/>
            </a:avLst>
          </a:prstGeom>
          <a:solidFill>
            <a:srgbClr val="141A2E"/>
          </a:solidFill>
          <a:ln w="17780">
            <a:solidFill>
              <a:srgbClr val="FBBF24"/>
            </a:solidFill>
            <a:prstDash val="solid"/>
          </a:ln>
          <a:effectLst>
            <a:outerShdw blurRad="114300" dist="381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10835640" y="2487168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REVIEW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10835640" y="3145536"/>
            <a:ext cx="1280160" cy="502920"/>
          </a:xfrm>
          <a:prstGeom prst="roundRect">
            <a:avLst>
              <a:gd name="adj" fmla="val 18182"/>
            </a:avLst>
          </a:prstGeom>
          <a:solidFill>
            <a:srgbClr val="141A2E"/>
          </a:solidFill>
          <a:ln w="17780">
            <a:solidFill>
              <a:srgbClr val="F87171"/>
            </a:solidFill>
            <a:prstDash val="solid"/>
          </a:ln>
          <a:effectLst>
            <a:outerShdw blurRad="114300" dist="381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10835640" y="3145536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8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DISCARD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10561320" y="2811780"/>
            <a:ext cx="274320" cy="0"/>
          </a:xfrm>
          <a:prstGeom prst="line">
            <a:avLst/>
          </a:prstGeom>
          <a:noFill/>
          <a:ln w="13970">
            <a:solidFill>
              <a:srgbClr val="6B749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0561320" y="2811780"/>
            <a:ext cx="274320" cy="0"/>
          </a:xfrm>
          <a:prstGeom prst="line">
            <a:avLst/>
          </a:prstGeom>
          <a:noFill/>
          <a:ln w="13970">
            <a:solidFill>
              <a:srgbClr val="6B749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0561320" y="2811780"/>
            <a:ext cx="274320" cy="580644"/>
          </a:xfrm>
          <a:prstGeom prst="line">
            <a:avLst/>
          </a:prstGeom>
          <a:noFill/>
          <a:ln w="13970">
            <a:solidFill>
              <a:srgbClr val="6B749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0561320" y="2075688"/>
            <a:ext cx="0" cy="1316736"/>
          </a:xfrm>
          <a:prstGeom prst="line">
            <a:avLst/>
          </a:prstGeom>
          <a:noFill/>
          <a:ln w="13970">
            <a:solidFill>
              <a:srgbClr val="6B749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108960" y="4251960"/>
            <a:ext cx="2286000" cy="868680"/>
          </a:xfrm>
          <a:prstGeom prst="roundRect">
            <a:avLst>
              <a:gd name="adj" fmla="val 10526"/>
            </a:avLst>
          </a:prstGeom>
          <a:solidFill>
            <a:srgbClr val="1A2138"/>
          </a:solidFill>
          <a:ln w="17780">
            <a:solidFill>
              <a:srgbClr val="A78BFA"/>
            </a:solidFill>
            <a:prstDash val="solid"/>
          </a:ln>
          <a:effectLst>
            <a:outerShdw blurRad="114300" dist="381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3246120" y="4370832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Auto-Cal  ★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3246120" y="4727448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AA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re-aligns drift every 15 min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 flipV="1">
            <a:off x="4251960" y="3291840"/>
            <a:ext cx="960120" cy="960120"/>
          </a:xfrm>
          <a:prstGeom prst="line">
            <a:avLst/>
          </a:prstGeom>
          <a:noFill/>
          <a:ln w="19050">
            <a:solidFill>
              <a:srgbClr val="34D399"/>
            </a:solidFill>
            <a:prstDash val="solid"/>
            <a:headEnd type="none"/>
            <a:tailEnd type="triangle"/>
          </a:ln>
        </p:spPr>
      </p:sp>
      <p:sp>
        <p:nvSpPr>
          <p:cNvPr id="37" name="Shape 35"/>
          <p:cNvSpPr/>
          <p:nvPr/>
        </p:nvSpPr>
        <p:spPr>
          <a:xfrm>
            <a:off x="5760720" y="4251960"/>
            <a:ext cx="2286000" cy="868680"/>
          </a:xfrm>
          <a:prstGeom prst="roundRect">
            <a:avLst>
              <a:gd name="adj" fmla="val 10526"/>
            </a:avLst>
          </a:prstGeom>
          <a:solidFill>
            <a:srgbClr val="1A2138"/>
          </a:solidFill>
          <a:ln w="17780">
            <a:solidFill>
              <a:srgbClr val="A78BFA"/>
            </a:solidFill>
            <a:prstDash val="solid"/>
          </a:ln>
          <a:effectLst>
            <a:outerShdw blurRad="114300" dist="381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38" name="Text 36"/>
          <p:cNvSpPr/>
          <p:nvPr/>
        </p:nvSpPr>
        <p:spPr>
          <a:xfrm>
            <a:off x="5897880" y="4370832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OCR Fusion  ★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897880" y="4727448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AA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5-frame plate recovery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 flipV="1">
            <a:off x="6903720" y="3291840"/>
            <a:ext cx="2148840" cy="960120"/>
          </a:xfrm>
          <a:prstGeom prst="line">
            <a:avLst/>
          </a:prstGeom>
          <a:noFill/>
          <a:ln w="19050">
            <a:solidFill>
              <a:srgbClr val="38BDF8"/>
            </a:solidFill>
            <a:prstDash val="solid"/>
            <a:headEnd type="none"/>
            <a:tailEnd type="triangle"/>
          </a:ln>
        </p:spPr>
      </p:sp>
      <p:sp>
        <p:nvSpPr>
          <p:cNvPr id="41" name="Shape 39"/>
          <p:cNvSpPr/>
          <p:nvPr/>
        </p:nvSpPr>
        <p:spPr>
          <a:xfrm>
            <a:off x="8366760" y="4251960"/>
            <a:ext cx="2286000" cy="868680"/>
          </a:xfrm>
          <a:prstGeom prst="roundRect">
            <a:avLst>
              <a:gd name="adj" fmla="val 10526"/>
            </a:avLst>
          </a:prstGeom>
          <a:solidFill>
            <a:srgbClr val="1A2138"/>
          </a:solidFill>
          <a:ln w="17780">
            <a:solidFill>
              <a:srgbClr val="A78BFA"/>
            </a:solidFill>
            <a:prstDash val="solid"/>
          </a:ln>
          <a:effectLst>
            <a:outerShdw blurRad="114300" dist="381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8503920" y="4370832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YAML Policy  ★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8503920" y="4727448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AA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 change in &lt;1 min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 flipV="1">
            <a:off x="9509760" y="3291840"/>
            <a:ext cx="0" cy="960120"/>
          </a:xfrm>
          <a:prstGeom prst="line">
            <a:avLst/>
          </a:prstGeom>
          <a:noFill/>
          <a:ln w="19050">
            <a:solidFill>
              <a:srgbClr val="F472B6"/>
            </a:solidFill>
            <a:prstDash val="solid"/>
            <a:headEnd type="none"/>
            <a:tailEnd type="triangle"/>
          </a:ln>
        </p:spPr>
      </p:sp>
      <p:sp>
        <p:nvSpPr>
          <p:cNvPr id="45" name="Text 43"/>
          <p:cNvSpPr/>
          <p:nvPr/>
        </p:nvSpPr>
        <p:spPr>
          <a:xfrm>
            <a:off x="822960" y="612648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 our contribution</a:t>
            </a:r>
            <a:r>
              <a:rPr lang="en-US" sz="1300" dirty="0">
                <a:solidFill>
                  <a:srgbClr val="6B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    Everything else is a standard YOLO + OCR build.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300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OFFICER ACTUALLY RECEIVES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22960" y="91440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packet. One score. One decision.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22960" y="1874520"/>
            <a:ext cx="3017520" cy="4160520"/>
          </a:xfrm>
          <a:prstGeom prst="roundRect">
            <a:avLst>
              <a:gd name="adj" fmla="val 3030"/>
            </a:avLst>
          </a:prstGeom>
          <a:solidFill>
            <a:srgbClr val="141A2E"/>
          </a:solidFill>
          <a:ln w="12700">
            <a:solidFill>
              <a:srgbClr val="2A3350"/>
            </a:solidFill>
            <a:prstDash val="solid"/>
          </a:ln>
          <a:effectLst>
            <a:outerShdw blurRad="114300" dist="38100" dir="5400000" algn="bl" rotWithShape="0">
              <a:srgbClr val="000000">
                <a:alpha val="35000"/>
              </a:srgbClr>
            </a:outerShdw>
          </a:effectLst>
        </p:spPr>
      </p:sp>
      <p:pic>
        <p:nvPicPr>
          <p:cNvPr id="5" name="Image 0" descr="frame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0137" y="2103120"/>
            <a:ext cx="1563167" cy="29718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68680" y="5138928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i="1" dirty="0">
                <a:solidFill>
                  <a:srgbClr val="9AA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Annotated frame + GradCAM overlay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868680" y="5504688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 05 MN 4821</a:t>
            </a:r>
            <a:r>
              <a:rPr lang="en-US" sz="1200" dirty="0">
                <a:solidFill>
                  <a:srgbClr val="9AA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2-wheeler   ·   </a:t>
            </a:r>
            <a:r>
              <a:rPr lang="en-US" sz="1200" b="1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Helmet non-compliance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4206240" y="214884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AA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Detection conf.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6446520" y="214884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91%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4206240" y="2715768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AA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OCR conf.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6446520" y="2715768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94%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4206240" y="3282696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AA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 consensus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6446520" y="3282696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5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4206240" y="3849624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AA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Calibration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6446520" y="3849624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HEALTHY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4206240" y="4416552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AA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SHA-256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6446520" y="4416552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A78B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3fa2…c91b  (tamper-evident)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4206240" y="512064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i="1" dirty="0">
                <a:solidFill>
                  <a:srgbClr val="6B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§129 helmet  ·  legally defensible without human review</a:t>
            </a:r>
            <a:endParaRPr lang="en-US" sz="1350" dirty="0"/>
          </a:p>
        </p:txBody>
      </p:sp>
      <p:sp>
        <p:nvSpPr>
          <p:cNvPr id="19" name="Shape 16"/>
          <p:cNvSpPr/>
          <p:nvPr/>
        </p:nvSpPr>
        <p:spPr>
          <a:xfrm>
            <a:off x="10012680" y="1874520"/>
            <a:ext cx="1783080" cy="4160520"/>
          </a:xfrm>
          <a:prstGeom prst="roundRect">
            <a:avLst>
              <a:gd name="adj" fmla="val 5128"/>
            </a:avLst>
          </a:prstGeom>
          <a:solidFill>
            <a:srgbClr val="1A2138"/>
          </a:solidFill>
          <a:ln w="22860">
            <a:solidFill>
              <a:srgbClr val="A78BFA"/>
            </a:solidFill>
            <a:prstDash val="solid"/>
          </a:ln>
          <a:effectLst>
            <a:outerShdw blurRad="114300" dist="381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10012680" y="214884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kern="0" spc="200" dirty="0">
                <a:solidFill>
                  <a:srgbClr val="9AA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ERS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10012680" y="2514600"/>
            <a:ext cx="1783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4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91</a:t>
            </a:r>
            <a:endParaRPr lang="en-US" sz="8400" dirty="0"/>
          </a:p>
        </p:txBody>
      </p:sp>
      <p:sp>
        <p:nvSpPr>
          <p:cNvPr id="22" name="Text 19"/>
          <p:cNvSpPr/>
          <p:nvPr/>
        </p:nvSpPr>
        <p:spPr>
          <a:xfrm>
            <a:off x="10012680" y="379476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9AA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 100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10241280" y="4617720"/>
            <a:ext cx="1325880" cy="566928"/>
          </a:xfrm>
          <a:prstGeom prst="roundRect">
            <a:avLst>
              <a:gd name="adj" fmla="val 12903"/>
            </a:avLst>
          </a:prstGeom>
          <a:solidFill>
            <a:srgbClr val="10241C"/>
          </a:solidFill>
          <a:ln w="19050">
            <a:solidFill>
              <a:srgbClr val="34D39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10241280" y="4617720"/>
            <a:ext cx="1325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AUTO-FINE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4572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A78BFA"/>
                </a:solidFill>
                <a:latin typeface="Calibri"/>
              </a:rPr>
              <a:t>TRUST ARCHITECTURE     ·     HOW WE EARN THE RIGHT TO AUTO-FINE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106070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5F7FA"/>
                </a:solidFill>
                <a:latin typeface="Calibri"/>
              </a:rPr>
              <a:t>We don't issue a single auto-fine until the data earns it.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783080"/>
            <a:ext cx="3474720" cy="2834640"/>
          </a:xfrm>
          <a:prstGeom prst="roundRect">
            <a:avLst>
              <a:gd name="adj" fmla="val 30000"/>
            </a:avLst>
          </a:prstGeom>
          <a:solidFill>
            <a:srgbClr val="141A2E"/>
          </a:solidFill>
          <a:ln w="1905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526280" y="1783080"/>
            <a:ext cx="3474720" cy="2834640"/>
          </a:xfrm>
          <a:prstGeom prst="roundRect">
            <a:avLst>
              <a:gd name="adj" fmla="val 30000"/>
            </a:avLst>
          </a:prstGeom>
          <a:solidFill>
            <a:srgbClr val="141A2E"/>
          </a:solidFill>
          <a:ln w="1905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8229600" y="1783080"/>
            <a:ext cx="3474720" cy="2834640"/>
          </a:xfrm>
          <a:prstGeom prst="roundRect">
            <a:avLst>
              <a:gd name="adj" fmla="val 30000"/>
            </a:avLst>
          </a:prstGeom>
          <a:solidFill>
            <a:srgbClr val="141A2E"/>
          </a:solidFill>
          <a:ln w="1905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450731" y="1940990"/>
            <a:ext cx="2683412" cy="2846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 dirty="0">
                <a:solidFill>
                  <a:srgbClr val="A78BFA"/>
                </a:solidFill>
                <a:latin typeface="Calibri"/>
              </a:rPr>
              <a:t>SHADOW MODE FIRST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1919" y="2239749"/>
            <a:ext cx="2919046" cy="23237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 dirty="0">
                <a:solidFill>
                  <a:srgbClr val="F5F7FA"/>
                </a:solidFill>
                <a:latin typeface="Calibri"/>
              </a:rPr>
              <a:t>Full pipeline live. Zero fines issued.</a:t>
            </a:r>
          </a:p>
          <a:p>
            <a:pPr algn="l"/>
            <a:endParaRPr sz="1400" b="1" i="0" dirty="0">
              <a:solidFill>
                <a:srgbClr val="F5F7FA"/>
              </a:solidFill>
              <a:latin typeface="Calibri"/>
            </a:endParaRPr>
          </a:p>
          <a:p>
            <a:pPr algn="l"/>
            <a:r>
              <a:rPr sz="1300" b="0" i="0" dirty="0">
                <a:solidFill>
                  <a:srgbClr val="9AA4BF"/>
                </a:solidFill>
                <a:latin typeface="Calibri"/>
              </a:rPr>
              <a:t>Officers adjudicate normally. Their decisions become the ground truth that calibrates the system.</a:t>
            </a:r>
          </a:p>
          <a:p>
            <a:pPr algn="l"/>
            <a:endParaRPr sz="1300" b="0" i="0" dirty="0">
              <a:solidFill>
                <a:srgbClr val="9AA4BF"/>
              </a:solidFill>
              <a:latin typeface="Calibri"/>
            </a:endParaRPr>
          </a:p>
          <a:p>
            <a:pPr algn="l"/>
            <a:r>
              <a:rPr sz="1300" b="1" i="0" dirty="0">
                <a:solidFill>
                  <a:srgbClr val="F5F7FA"/>
                </a:solidFill>
                <a:latin typeface="Calibri"/>
              </a:rPr>
              <a:t>99% precision gate</a:t>
            </a:r>
            <a:r>
              <a:rPr sz="1300" b="0" i="0" dirty="0">
                <a:solidFill>
                  <a:srgbClr val="9AA4BF"/>
                </a:solidFill>
                <a:latin typeface="Calibri"/>
              </a:rPr>
              <a:t> on held-out officer labels before any auto-fine goes live.</a:t>
            </a:r>
          </a:p>
          <a:p>
            <a:pPr algn="l"/>
            <a:endParaRPr sz="1300" b="0" i="0" dirty="0">
              <a:solidFill>
                <a:srgbClr val="9AA4BF"/>
              </a:solidFill>
              <a:latin typeface="Calibri"/>
            </a:endParaRPr>
          </a:p>
          <a:p>
            <a:pPr algn="l"/>
            <a:r>
              <a:rPr sz="1300" b="0" i="1" dirty="0">
                <a:solidFill>
                  <a:srgbClr val="6B7490"/>
                </a:solidFill>
                <a:latin typeface="Calibri"/>
              </a:rPr>
              <a:t>No junction advances to Stage 1 until it </a:t>
            </a:r>
            <a:r>
              <a:rPr sz="1300" b="0" i="1" dirty="0" smtClean="0">
                <a:solidFill>
                  <a:srgbClr val="6B7490"/>
                </a:solidFill>
                <a:latin typeface="Calibri"/>
              </a:rPr>
              <a:t>clears</a:t>
            </a:r>
            <a:endParaRPr sz="1300" b="0" i="1" dirty="0">
              <a:solidFill>
                <a:srgbClr val="6B7490"/>
              </a:solidFill>
              <a:latin typeface="Calibri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011614" y="1924197"/>
            <a:ext cx="2806505" cy="2846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 dirty="0">
                <a:solidFill>
                  <a:srgbClr val="A78BFA"/>
                </a:solidFill>
                <a:latin typeface="Calibri"/>
              </a:rPr>
              <a:t>≤1% WRONGFUL-FINE GUARANTEE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65896" y="2239750"/>
            <a:ext cx="2938389" cy="23237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 dirty="0">
                <a:solidFill>
                  <a:srgbClr val="F5F7FA"/>
                </a:solidFill>
                <a:latin typeface="Calibri"/>
              </a:rPr>
              <a:t>Conformal risk control</a:t>
            </a:r>
          </a:p>
          <a:p>
            <a:pPr algn="l"/>
            <a:endParaRPr sz="1400" b="1" i="0" dirty="0">
              <a:solidFill>
                <a:srgbClr val="F5F7FA"/>
              </a:solidFill>
              <a:latin typeface="Calibri"/>
            </a:endParaRPr>
          </a:p>
          <a:p>
            <a:pPr algn="l"/>
            <a:r>
              <a:rPr sz="1300" b="0" i="0" dirty="0">
                <a:solidFill>
                  <a:srgbClr val="9AA4BF"/>
                </a:solidFill>
                <a:latin typeface="Calibri"/>
              </a:rPr>
              <a:t>A distribution-free statistical method sets the auto-fine threshold from shadow-mode labels — not from us.</a:t>
            </a:r>
          </a:p>
          <a:p>
            <a:pPr algn="l"/>
            <a:endParaRPr sz="1300" b="0" i="0" dirty="0">
              <a:solidFill>
                <a:srgbClr val="9AA4BF"/>
              </a:solidFill>
              <a:latin typeface="Calibri"/>
            </a:endParaRPr>
          </a:p>
          <a:p>
            <a:pPr algn="l"/>
            <a:r>
              <a:rPr sz="1300" b="1" i="0" dirty="0">
                <a:solidFill>
                  <a:srgbClr val="34D399"/>
                </a:solidFill>
                <a:latin typeface="Calibri"/>
              </a:rPr>
              <a:t>Provably ≤1% wrongful-fine rate</a:t>
            </a:r>
            <a:r>
              <a:rPr sz="1300" b="0" i="0" dirty="0">
                <a:solidFill>
                  <a:srgbClr val="9AA4BF"/>
                </a:solidFill>
                <a:latin typeface="Calibri"/>
              </a:rPr>
              <a:t> at 95% confidence. Per violation type.</a:t>
            </a:r>
          </a:p>
          <a:p>
            <a:pPr algn="l"/>
            <a:endParaRPr sz="1300" b="0" i="0" dirty="0">
              <a:solidFill>
                <a:srgbClr val="9AA4BF"/>
              </a:solidFill>
              <a:latin typeface="Calibri"/>
            </a:endParaRPr>
          </a:p>
          <a:p>
            <a:pPr algn="l"/>
            <a:r>
              <a:rPr sz="1300" b="0" i="1" dirty="0">
                <a:solidFill>
                  <a:srgbClr val="6B7490"/>
                </a:solidFill>
                <a:latin typeface="Calibri"/>
              </a:rPr>
              <a:t>Threshold set by data. Re-validated on drift.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80230" y="1955057"/>
            <a:ext cx="2641209" cy="2846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 dirty="0">
                <a:solidFill>
                  <a:srgbClr val="A78BFA"/>
                </a:solidFill>
                <a:latin typeface="Calibri"/>
              </a:rPr>
              <a:t>CITIZEN EVIDENCE PORTAL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8876" y="2226474"/>
            <a:ext cx="3008728" cy="23237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 dirty="0">
                <a:solidFill>
                  <a:srgbClr val="F5F7FA"/>
                </a:solidFill>
                <a:latin typeface="Calibri"/>
              </a:rPr>
              <a:t>Every challan has a QR code.</a:t>
            </a:r>
          </a:p>
          <a:p>
            <a:pPr algn="l"/>
            <a:endParaRPr sz="1400" b="1" i="0" dirty="0">
              <a:solidFill>
                <a:srgbClr val="F5F7FA"/>
              </a:solidFill>
              <a:latin typeface="Calibri"/>
            </a:endParaRPr>
          </a:p>
          <a:p>
            <a:pPr algn="l"/>
            <a:r>
              <a:rPr sz="1300" b="0" i="0" dirty="0">
                <a:solidFill>
                  <a:srgbClr val="9AA4BF"/>
                </a:solidFill>
                <a:latin typeface="Calibri"/>
              </a:rPr>
              <a:t>Owners see the annotated frame, ERS sub-scores, and </a:t>
            </a:r>
            <a:r>
              <a:rPr sz="1300" b="0" i="0" dirty="0" err="1">
                <a:solidFill>
                  <a:srgbClr val="9AA4BF"/>
                </a:solidFill>
                <a:latin typeface="Calibri"/>
              </a:rPr>
              <a:t>GradCAM</a:t>
            </a:r>
            <a:r>
              <a:rPr sz="1300" b="0" i="0" dirty="0">
                <a:solidFill>
                  <a:srgbClr val="9AA4BF"/>
                </a:solidFill>
                <a:latin typeface="Calibri"/>
              </a:rPr>
              <a:t> overlay — the same view the officer saw.</a:t>
            </a:r>
          </a:p>
          <a:p>
            <a:pPr algn="l"/>
            <a:endParaRPr sz="1300" b="0" i="0" dirty="0">
              <a:solidFill>
                <a:srgbClr val="9AA4BF"/>
              </a:solidFill>
              <a:latin typeface="Calibri"/>
            </a:endParaRPr>
          </a:p>
          <a:p>
            <a:pPr algn="l"/>
            <a:r>
              <a:rPr sz="1300" b="1" i="0" dirty="0">
                <a:solidFill>
                  <a:srgbClr val="F5F7FA"/>
                </a:solidFill>
                <a:latin typeface="Calibri"/>
              </a:rPr>
              <a:t>Disputes provisionally stay the fine.</a:t>
            </a:r>
            <a:r>
              <a:rPr sz="1300" b="0" i="0" dirty="0">
                <a:solidFill>
                  <a:srgbClr val="9AA4BF"/>
                </a:solidFill>
                <a:latin typeface="Calibri"/>
              </a:rPr>
              <a:t> Overturns feed directly into recalibration.</a:t>
            </a:r>
          </a:p>
          <a:p>
            <a:pPr algn="l"/>
            <a:endParaRPr sz="1300" b="0" i="0" dirty="0">
              <a:solidFill>
                <a:srgbClr val="9AA4BF"/>
              </a:solidFill>
              <a:latin typeface="Calibri"/>
            </a:endParaRPr>
          </a:p>
          <a:p>
            <a:pPr algn="l"/>
            <a:r>
              <a:rPr sz="1300" b="0" i="1" dirty="0">
                <a:solidFill>
                  <a:srgbClr val="6B7490"/>
                </a:solidFill>
                <a:latin typeface="Calibri"/>
              </a:rPr>
              <a:t>Citizens fix errors. The system gets harder to fool.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084064"/>
            <a:ext cx="10607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9AA4BF"/>
                </a:solidFill>
                <a:latin typeface="Calibri"/>
              </a:rPr>
              <a:t>Hyderabad went live on unvalidated thresholds.</a:t>
            </a:r>
          </a:p>
          <a:p>
            <a:pPr algn="l"/>
            <a:r>
              <a:rPr sz="1800" b="1" i="0">
                <a:solidFill>
                  <a:srgbClr val="F5F7FA"/>
                </a:solidFill>
                <a:latin typeface="Calibri"/>
              </a:rPr>
              <a:t>We don't.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4572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A78BFA"/>
                </a:solidFill>
                <a:latin typeface="Calibri"/>
              </a:rPr>
              <a:t>DEPLOYMENT PATH     ·     10 JUNCTIONS TO CITY-WIDE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106070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5F7FA"/>
                </a:solidFill>
                <a:latin typeface="Calibri"/>
              </a:rPr>
              <a:t>Three phases. Each gated by measurable criteria, not timelines.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783080"/>
            <a:ext cx="3474720" cy="2468880"/>
          </a:xfrm>
          <a:prstGeom prst="roundRect">
            <a:avLst>
              <a:gd name="adj" fmla="val 30000"/>
            </a:avLst>
          </a:prstGeom>
          <a:solidFill>
            <a:srgbClr val="141A2E"/>
          </a:solidFill>
          <a:ln w="190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526280" y="1783080"/>
            <a:ext cx="3474720" cy="2468880"/>
          </a:xfrm>
          <a:prstGeom prst="roundRect">
            <a:avLst>
              <a:gd name="adj" fmla="val 30000"/>
            </a:avLst>
          </a:prstGeom>
          <a:solidFill>
            <a:srgbClr val="141A2E"/>
          </a:solidFill>
          <a:ln w="1905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8229600" y="1783080"/>
            <a:ext cx="3474720" cy="2468880"/>
          </a:xfrm>
          <a:prstGeom prst="roundRect">
            <a:avLst>
              <a:gd name="adj" fmla="val 30000"/>
            </a:avLst>
          </a:prstGeom>
          <a:solidFill>
            <a:srgbClr val="141A2E"/>
          </a:solidFill>
          <a:ln w="1905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969476" y="1984248"/>
            <a:ext cx="2145323" cy="2846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34D399"/>
                </a:solidFill>
                <a:latin typeface="Calibri"/>
              </a:rPr>
              <a:t>PHASE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268941"/>
            <a:ext cx="3108960" cy="18851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 i="0" dirty="0">
                <a:solidFill>
                  <a:srgbClr val="F5F7FA"/>
                </a:solidFill>
                <a:latin typeface="Calibri"/>
              </a:rPr>
              <a:t>10 high-urgency junctions</a:t>
            </a:r>
          </a:p>
          <a:p>
            <a:pPr algn="l"/>
            <a:endParaRPr sz="1450" b="1" i="0" dirty="0">
              <a:solidFill>
                <a:srgbClr val="F5F7FA"/>
              </a:solidFill>
              <a:latin typeface="Calibri"/>
            </a:endParaRPr>
          </a:p>
          <a:p>
            <a:pPr algn="l"/>
            <a:r>
              <a:rPr sz="1250" b="0" i="0" dirty="0">
                <a:solidFill>
                  <a:srgbClr val="9AA4BF"/>
                </a:solidFill>
                <a:latin typeface="Calibri"/>
              </a:rPr>
              <a:t>Top 10 by enforcement load from Police Violations Dataset. Real rows — auditable, not guessed.</a:t>
            </a:r>
          </a:p>
          <a:p>
            <a:pPr algn="l"/>
            <a:endParaRPr sz="1250" b="0" i="0" dirty="0">
              <a:solidFill>
                <a:srgbClr val="9AA4BF"/>
              </a:solidFill>
              <a:latin typeface="Calibri"/>
            </a:endParaRPr>
          </a:p>
          <a:p>
            <a:pPr algn="l"/>
            <a:r>
              <a:rPr sz="1250" b="1" i="0" dirty="0">
                <a:solidFill>
                  <a:srgbClr val="9AA4BF"/>
                </a:solidFill>
                <a:latin typeface="Calibri"/>
              </a:rPr>
              <a:t>Gate: </a:t>
            </a:r>
            <a:r>
              <a:rPr sz="1250" b="1" i="0" dirty="0" err="1">
                <a:solidFill>
                  <a:srgbClr val="34D399"/>
                </a:solidFill>
                <a:latin typeface="Calibri"/>
              </a:rPr>
              <a:t>mAP</a:t>
            </a:r>
            <a:r>
              <a:rPr sz="1250" b="1" i="0" dirty="0">
                <a:solidFill>
                  <a:srgbClr val="34D399"/>
                </a:solidFill>
                <a:latin typeface="Calibri"/>
              </a:rPr>
              <a:t> ≥ 0.85 + auto-fine precision ≥ 99</a:t>
            </a:r>
            <a:r>
              <a:rPr sz="1250" b="1" i="0" dirty="0" smtClean="0">
                <a:solidFill>
                  <a:srgbClr val="34D399"/>
                </a:solidFill>
                <a:latin typeface="Calibri"/>
              </a:rPr>
              <a:t>%</a:t>
            </a:r>
            <a:endParaRPr sz="1250" b="1" i="0" dirty="0">
              <a:solidFill>
                <a:srgbClr val="34D399"/>
              </a:solidFill>
              <a:latin typeface="Calibri"/>
            </a:endParaRPr>
          </a:p>
          <a:p>
            <a:pPr algn="l"/>
            <a:r>
              <a:rPr sz="1250" b="0" i="1" dirty="0">
                <a:solidFill>
                  <a:srgbClr val="6B7490"/>
                </a:solidFill>
                <a:latin typeface="Calibri"/>
              </a:rPr>
              <a:t>Stage 0 shadow → Stage </a:t>
            </a:r>
            <a:r>
              <a:rPr sz="1250" b="0" i="1" dirty="0" smtClean="0">
                <a:solidFill>
                  <a:srgbClr val="6B7490"/>
                </a:solidFill>
                <a:latin typeface="Calibri"/>
              </a:rPr>
              <a:t>1 </a:t>
            </a:r>
            <a:r>
              <a:rPr sz="1250" b="0" i="1" dirty="0">
                <a:solidFill>
                  <a:srgbClr val="6B7490"/>
                </a:solidFill>
                <a:latin typeface="Calibri"/>
              </a:rPr>
              <a:t>live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20508" y="1984248"/>
            <a:ext cx="1997611" cy="2846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 dirty="0">
                <a:solidFill>
                  <a:srgbClr val="FBBF24"/>
                </a:solidFill>
                <a:latin typeface="Calibri"/>
              </a:rPr>
              <a:t>PHASE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92040" y="2328053"/>
            <a:ext cx="3108960" cy="18851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 i="0" dirty="0">
                <a:solidFill>
                  <a:srgbClr val="F5F7FA"/>
                </a:solidFill>
                <a:latin typeface="Calibri"/>
              </a:rPr>
              <a:t>50 junctions</a:t>
            </a:r>
          </a:p>
          <a:p>
            <a:pPr algn="l"/>
            <a:endParaRPr sz="1450" b="1" i="0" dirty="0">
              <a:solidFill>
                <a:srgbClr val="F5F7FA"/>
              </a:solidFill>
              <a:latin typeface="Calibri"/>
            </a:endParaRPr>
          </a:p>
          <a:p>
            <a:pPr algn="l"/>
            <a:r>
              <a:rPr sz="1250" b="0" i="0" dirty="0">
                <a:solidFill>
                  <a:srgbClr val="9AA4BF"/>
                </a:solidFill>
                <a:latin typeface="Calibri"/>
              </a:rPr>
              <a:t>Selected by live Sentinel-BLR urgency scores, not manual survey.</a:t>
            </a:r>
          </a:p>
          <a:p>
            <a:pPr algn="l"/>
            <a:endParaRPr sz="1250" b="0" i="0" dirty="0">
              <a:solidFill>
                <a:srgbClr val="9AA4BF"/>
              </a:solidFill>
              <a:latin typeface="Calibri"/>
            </a:endParaRPr>
          </a:p>
          <a:p>
            <a:pPr algn="l"/>
            <a:r>
              <a:rPr sz="1250" b="1" i="0" dirty="0">
                <a:solidFill>
                  <a:srgbClr val="9AA4BF"/>
                </a:solidFill>
                <a:latin typeface="Calibri"/>
              </a:rPr>
              <a:t>Gate: </a:t>
            </a:r>
            <a:r>
              <a:rPr sz="1250" b="1" i="0" dirty="0">
                <a:solidFill>
                  <a:srgbClr val="FBBF24"/>
                </a:solidFill>
                <a:latin typeface="Calibri"/>
              </a:rPr>
              <a:t>synthetic priors fully replaced by local field data</a:t>
            </a:r>
          </a:p>
          <a:p>
            <a:pPr algn="l"/>
            <a:endParaRPr sz="1250" b="1" i="0" dirty="0">
              <a:solidFill>
                <a:srgbClr val="FBBF24"/>
              </a:solidFill>
              <a:latin typeface="Calibri"/>
            </a:endParaRPr>
          </a:p>
          <a:p>
            <a:pPr algn="l"/>
            <a:r>
              <a:rPr lang="en-US" sz="1250" b="0" i="1" dirty="0" smtClean="0">
                <a:solidFill>
                  <a:srgbClr val="6B7490"/>
                </a:solidFill>
                <a:latin typeface="Calibri"/>
              </a:rPr>
              <a:t> </a:t>
            </a:r>
            <a:r>
              <a:rPr sz="1250" b="0" i="1" dirty="0" smtClean="0">
                <a:solidFill>
                  <a:srgbClr val="6B7490"/>
                </a:solidFill>
                <a:latin typeface="Calibri"/>
              </a:rPr>
              <a:t>within </a:t>
            </a:r>
            <a:r>
              <a:rPr sz="1250" b="0" i="1" dirty="0">
                <a:solidFill>
                  <a:srgbClr val="6B7490"/>
                </a:solidFill>
                <a:latin typeface="Calibri"/>
              </a:rPr>
              <a:t>30 days of Phase </a:t>
            </a:r>
            <a:r>
              <a:rPr sz="1250" b="0" i="1" dirty="0" smtClean="0">
                <a:solidFill>
                  <a:srgbClr val="6B7490"/>
                </a:solidFill>
                <a:latin typeface="Calibri"/>
              </a:rPr>
              <a:t>1</a:t>
            </a:r>
            <a:endParaRPr sz="1250" b="0" i="1" dirty="0">
              <a:solidFill>
                <a:srgbClr val="6B7490"/>
              </a:solidFill>
              <a:latin typeface="Calibri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9522068" y="1984248"/>
            <a:ext cx="1999371" cy="2846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 dirty="0">
                <a:solidFill>
                  <a:srgbClr val="A78BFA"/>
                </a:solidFill>
                <a:latin typeface="Calibri"/>
              </a:rPr>
              <a:t>PHASE 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0" y="2257683"/>
            <a:ext cx="3108960" cy="18851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 i="0" dirty="0">
                <a:solidFill>
                  <a:srgbClr val="F5F7FA"/>
                </a:solidFill>
                <a:latin typeface="Calibri"/>
              </a:rPr>
              <a:t>City-wide rollout</a:t>
            </a:r>
          </a:p>
          <a:p>
            <a:pPr algn="l"/>
            <a:endParaRPr sz="1450" b="1" i="0" dirty="0">
              <a:solidFill>
                <a:srgbClr val="F5F7FA"/>
              </a:solidFill>
              <a:latin typeface="Calibri"/>
            </a:endParaRPr>
          </a:p>
          <a:p>
            <a:pPr algn="l"/>
            <a:r>
              <a:rPr sz="1250" b="0" i="0" dirty="0">
                <a:solidFill>
                  <a:srgbClr val="9AA4BF"/>
                </a:solidFill>
                <a:latin typeface="Calibri"/>
              </a:rPr>
              <a:t>Multi-angle coverage recommended by Layer 9 analytics, not manual deployment decisions.</a:t>
            </a:r>
          </a:p>
          <a:p>
            <a:pPr algn="l"/>
            <a:endParaRPr sz="1250" b="0" i="0" dirty="0">
              <a:solidFill>
                <a:srgbClr val="9AA4BF"/>
              </a:solidFill>
              <a:latin typeface="Calibri"/>
            </a:endParaRPr>
          </a:p>
          <a:p>
            <a:pPr algn="l"/>
            <a:r>
              <a:rPr sz="1250" b="1" i="0" dirty="0">
                <a:solidFill>
                  <a:srgbClr val="9AA4BF"/>
                </a:solidFill>
                <a:latin typeface="Calibri"/>
              </a:rPr>
              <a:t>Gate: </a:t>
            </a:r>
            <a:r>
              <a:rPr sz="1250" b="1" i="0" dirty="0">
                <a:solidFill>
                  <a:srgbClr val="A78BFA"/>
                </a:solidFill>
                <a:latin typeface="Calibri"/>
              </a:rPr>
              <a:t>infrastructure cost grows linearly or </a:t>
            </a:r>
            <a:r>
              <a:rPr sz="1250" b="1" i="0" dirty="0" smtClean="0">
                <a:solidFill>
                  <a:srgbClr val="A78BFA"/>
                </a:solidFill>
                <a:latin typeface="Calibri"/>
              </a:rPr>
              <a:t>sub-linearly</a:t>
            </a:r>
            <a:endParaRPr sz="1250" b="1" i="0" dirty="0">
              <a:solidFill>
                <a:srgbClr val="A78BFA"/>
              </a:solidFill>
              <a:latin typeface="Calibri"/>
            </a:endParaRPr>
          </a:p>
          <a:p>
            <a:pPr algn="l"/>
            <a:r>
              <a:rPr sz="1250" b="0" i="1" dirty="0">
                <a:solidFill>
                  <a:srgbClr val="6B7490"/>
                </a:solidFill>
                <a:latin typeface="Calibri"/>
              </a:rPr>
              <a:t>Same architecture — no </a:t>
            </a:r>
            <a:r>
              <a:rPr sz="1250" b="0" i="1" dirty="0" smtClean="0">
                <a:solidFill>
                  <a:srgbClr val="6B7490"/>
                </a:solidFill>
                <a:latin typeface="Calibri"/>
              </a:rPr>
              <a:t>rebuild</a:t>
            </a:r>
            <a:r>
              <a:rPr lang="en-US" sz="1250" b="0" i="1" dirty="0" smtClean="0">
                <a:solidFill>
                  <a:srgbClr val="6B7490"/>
                </a:solidFill>
                <a:latin typeface="Calibri"/>
              </a:rPr>
              <a:t> </a:t>
            </a:r>
            <a:endParaRPr sz="1250" b="0" i="1" dirty="0">
              <a:solidFill>
                <a:srgbClr val="6B7490"/>
              </a:solidFill>
              <a:latin typeface="Calibri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822960" y="4434840"/>
            <a:ext cx="10515600" cy="1097280"/>
          </a:xfrm>
          <a:prstGeom prst="roundRect">
            <a:avLst>
              <a:gd name="adj" fmla="val 30000"/>
            </a:avLst>
          </a:prstGeom>
          <a:solidFill>
            <a:srgbClr val="1A2138"/>
          </a:solidFill>
          <a:ln w="12700">
            <a:solidFill>
              <a:srgbClr val="2A33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05840" y="4572000"/>
            <a:ext cx="10149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AA4BF"/>
                </a:solidFill>
                <a:latin typeface="Calibri"/>
              </a:rPr>
              <a:t>Hardware cost (Phase 1, 10 junctions): </a:t>
            </a:r>
            <a:r>
              <a:rPr sz="1400" b="1" i="0">
                <a:solidFill>
                  <a:srgbClr val="F5F7FA"/>
                </a:solidFill>
                <a:latin typeface="Calibri"/>
              </a:rPr>
              <a:t>low lakhs.</a:t>
            </a:r>
          </a:p>
          <a:p>
            <a:pPr algn="l"/>
            <a:endParaRPr sz="1400" b="1" i="0">
              <a:solidFill>
                <a:srgbClr val="F5F7FA"/>
              </a:solidFill>
              <a:latin typeface="Calibri"/>
            </a:endParaRPr>
          </a:p>
          <a:p>
            <a:pPr algn="l"/>
            <a:r>
              <a:rPr sz="1300" b="0" i="0">
                <a:solidFill>
                  <a:srgbClr val="9AA4BF"/>
                </a:solidFill>
                <a:latin typeface="Calibri"/>
              </a:rPr>
              <a:t>Jetson Orin NX ~₹50–80K/unit. </a:t>
            </a:r>
            <a:r>
              <a:rPr sz="1300" b="1" i="0">
                <a:solidFill>
                  <a:srgbClr val="F5F7FA"/>
                </a:solidFill>
                <a:latin typeface="Calibri"/>
              </a:rPr>
              <a:t>Sits on top of BTP's existing CCTV feeds — no camera replacement.</a:t>
            </a:r>
            <a:r>
              <a:rPr sz="1300" b="0" i="0">
                <a:solidFill>
                  <a:srgbClr val="9AA4BF"/>
                </a:solidFill>
                <a:latin typeface="Calibri"/>
              </a:rPr>
              <a:t>  Not a multi-crore infrastructure commitment.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33172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dirty="0">
                <a:solidFill>
                  <a:srgbClr val="9AA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systems decide whether to fine.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822960" y="2971800"/>
            <a:ext cx="10789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Ours decides whether it </a:t>
            </a:r>
            <a:r>
              <a:rPr lang="en-US" sz="4000" b="1" i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should</a:t>
            </a:r>
            <a:r>
              <a:rPr lang="en-US" sz="4000" b="1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and it knows when it's wrong.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841248" y="52120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kern="0" spc="300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SENTINEL-BLR</a:t>
            </a:r>
            <a:r>
              <a:rPr lang="en-US" sz="1600" dirty="0">
                <a:solidFill>
                  <a:srgbClr val="6B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Team Rocket  ·  Flipkart Gridlock 2.0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1086</Words>
  <Application>Microsoft Office PowerPoint</Application>
  <PresentationFormat>Widescreen</PresentationFormat>
  <Paragraphs>138</Paragraphs>
  <Slides>8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Arial</vt:lpstr>
      <vt:lpstr>Calibri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Sentinel-BLR</dc:title>
  <dc:subject>PptxGenJS Presentation</dc:subject>
  <dc:creator>Team Rocket</dc:creator>
  <cp:lastModifiedBy>LENOVO</cp:lastModifiedBy>
  <cp:revision>2</cp:revision>
  <dcterms:created xsi:type="dcterms:W3CDTF">2026-06-20T04:56:29Z</dcterms:created>
  <dcterms:modified xsi:type="dcterms:W3CDTF">2026-06-22T07:10:49Z</dcterms:modified>
</cp:coreProperties>
</file>