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7016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0:00–0:18 OPENING (both on camera). A: "We're Team Rocket." Every traffic-AI asks: was a violation detected? B: "We ask a second question no deployed Indian system asks — is the evidence good enough to fine someone?"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0:18–0:52 THE PROBLEM (A). 26,000 wrong challans in Hyderabad last year — detector and plate-reader drifted out of sync. Bengaluru's own police say their AI still can't do wrong-side driving. Detecting isn't the gap; trusting a detection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0:52–1:33 THE ERS (A). Every detection gets one number 0–100. Five inputs. It routes itself: 85+ auto-fine, 60–84 human review, under 60 discard. Clear day 93 → fine. Heavy rain, mud 47 → discarded. Weak evidence cannot become a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1:33–2:42 SYSTEM + WHAT'S OURS (B). Standard pipeline underneath. These four are ours: calibration heartbeat (re-aligns a drifting camera every 15 min without stopping enforcement), 5-frame OCR fusion (recovers a plate from mud/rain), YAML policy engine (police change a rule in &lt;1 min, no engineer), and the ERS gate on top. Triple riding can NEVER auto-fine — a human always signs off. We'd rather miss a violation than wrongly accuse someone.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2:42–3:10 DEPLOYMENT (B then A). One packet, one score, one decision — this is what an officer sees. It starts at 10 junctions pulled from real violation data, each next phase a measured gate not a calendar date. Runs on Bengaluru's existing CCTV plus a small edge box per junction — phase one is lakhs, not crores. Grounded in real MV Act sections and the new DPDP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3:10–3:25 CLOSE (both). B: "Most systems decide whether to fine." A: "Ours decides whether it should — and it knows when it's wrong." Both: "Sentinel-BLR. Thank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FLIPKART GRIDLOCK 2.0     ·     THEME 3     ·     </a:t>
            </a:r>
            <a:r>
              <a:rPr lang="en-US" sz="1300" b="1" kern="0" spc="300" dirty="0" smtClean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TEAM_ROCKET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417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SENTINEL-BLR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Evidence-Quality Automated Traffic Enforcement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3657600"/>
            <a:ext cx="9784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traffic-AI system asks one question: </a:t>
            </a:r>
            <a:r>
              <a:rPr lang="en-US" sz="21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 violation detected?</a:t>
            </a:r>
            <a:endParaRPr lang="en-US" sz="2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2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one that asks a second: </a:t>
            </a:r>
            <a:r>
              <a:rPr lang="en-US" sz="2100" b="1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evidence good enough to fine someone?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4124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  ·   a single 0–100 reliability score on every detection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0515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26,000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challans  —  Hyderabad, 2025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violation detector and their plate reader silently drifted out of sync. Fines went to the wrong vehicles — some to cars in a completely different part of the city.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0" y="1188720"/>
            <a:ext cx="4389120" cy="3657600"/>
          </a:xfrm>
          <a:prstGeom prst="roundRect">
            <a:avLst>
              <a:gd name="adj" fmla="val 2500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60920" y="1508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RECORD — BENGALURU, 2024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60920" y="20574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9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Traffic Police confirmed their AI </a:t>
            </a:r>
            <a:r>
              <a:rPr lang="en-US" sz="19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cannot detect wrong-side driving</a:t>
            </a:r>
            <a:r>
              <a:rPr lang="en-US" sz="19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those cases are registered </a:t>
            </a:r>
            <a:r>
              <a:rPr lang="en-US" sz="1900" b="1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“by a manual process.”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57150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violations is already solved. Knowing which detections are reliable enough to enforce on is not.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  ·     EVIDENCE RELIABILITY SCORE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decides what happens to every detection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1A2138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2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 C</a:t>
            </a:r>
            <a:r>
              <a:rPr lang="en-US" sz="2700" b="1" baseline="-40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 C</a:t>
            </a:r>
            <a:r>
              <a:rPr lang="en-US" sz="2700" b="1" baseline="-40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 R</a:t>
            </a:r>
            <a:r>
              <a:rPr lang="en-US" sz="2700" b="1" baseline="-40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 H</a:t>
            </a:r>
            <a:r>
              <a:rPr lang="en-US" sz="2700" b="1" baseline="-40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 Q</a:t>
            </a:r>
            <a:r>
              <a:rPr lang="en-US" sz="2700" b="1" baseline="-40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read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multi-frame agreement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quality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3108960" cy="1691640"/>
          </a:xfrm>
          <a:prstGeom prst="roundRect">
            <a:avLst>
              <a:gd name="adj" fmla="val 5405"/>
            </a:avLst>
          </a:prstGeom>
          <a:solidFill>
            <a:srgbClr val="141A2E"/>
          </a:solidFill>
          <a:ln w="19050">
            <a:solidFill>
              <a:srgbClr val="34D399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≥ 85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day, clean plate  →  93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81728" y="3703320"/>
            <a:ext cx="3108960" cy="1691640"/>
          </a:xfrm>
          <a:prstGeom prst="roundRect">
            <a:avLst>
              <a:gd name="adj" fmla="val 5405"/>
            </a:avLst>
          </a:prstGeom>
          <a:solidFill>
            <a:srgbClr val="141A2E"/>
          </a:solidFill>
          <a:ln w="19050">
            <a:solidFill>
              <a:srgbClr val="FBBF24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81728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– 84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81728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18888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rain, partial plate  →  75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0496" y="3703320"/>
            <a:ext cx="3108960" cy="1691640"/>
          </a:xfrm>
          <a:prstGeom prst="roundRect">
            <a:avLst>
              <a:gd name="adj" fmla="val 5405"/>
            </a:avLst>
          </a:prstGeom>
          <a:solidFill>
            <a:srgbClr val="141A2E"/>
          </a:solidFill>
          <a:ln w="19050">
            <a:solidFill>
              <a:srgbClr val="F87171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540496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77656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rain, mud  →  47 · no record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evidence structurally cannot become a fine.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spine — and the four layers that are </a:t>
            </a:r>
            <a:r>
              <a:rPr lang="en-US" sz="3000" b="1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173736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4963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Feed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32688" y="28803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/ ONVIF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0" y="2331720"/>
            <a:ext cx="173736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52928" y="24963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852928" y="28803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· Retinex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331720"/>
            <a:ext cx="173736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73168" y="24963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73168" y="28803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YOLOv10 · 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233172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93408" y="2496312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Engine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93408" y="288036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categories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686800" y="2331720"/>
            <a:ext cx="1874520" cy="960120"/>
          </a:xfrm>
          <a:prstGeom prst="roundRect">
            <a:avLst>
              <a:gd name="adj" fmla="val 9524"/>
            </a:avLst>
          </a:prstGeom>
          <a:solidFill>
            <a:srgbClr val="1A2138"/>
          </a:solidFill>
          <a:ln w="2286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96528" y="2496312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Gate  ★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796528" y="2880360"/>
            <a:ext cx="1655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reliability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0" y="2811780"/>
            <a:ext cx="18288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80560" y="2811780"/>
            <a:ext cx="18288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0" y="2811780"/>
            <a:ext cx="18288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412480" y="2811780"/>
            <a:ext cx="27432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35640" y="1828800"/>
            <a:ext cx="1280160" cy="502920"/>
          </a:xfrm>
          <a:prstGeom prst="roundRect">
            <a:avLst>
              <a:gd name="adj" fmla="val 18182"/>
            </a:avLst>
          </a:prstGeom>
          <a:solidFill>
            <a:srgbClr val="141A2E"/>
          </a:solidFill>
          <a:ln w="17780">
            <a:solidFill>
              <a:srgbClr val="34D399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835640" y="1828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AUTO-FINE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835640" y="2487168"/>
            <a:ext cx="1280160" cy="502920"/>
          </a:xfrm>
          <a:prstGeom prst="roundRect">
            <a:avLst>
              <a:gd name="adj" fmla="val 18182"/>
            </a:avLst>
          </a:prstGeom>
          <a:solidFill>
            <a:srgbClr val="141A2E"/>
          </a:solidFill>
          <a:ln w="17780">
            <a:solidFill>
              <a:srgbClr val="FBBF24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835640" y="248716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0835640" y="3145536"/>
            <a:ext cx="1280160" cy="502920"/>
          </a:xfrm>
          <a:prstGeom prst="roundRect">
            <a:avLst>
              <a:gd name="adj" fmla="val 18182"/>
            </a:avLst>
          </a:prstGeom>
          <a:solidFill>
            <a:srgbClr val="141A2E"/>
          </a:solidFill>
          <a:ln w="17780">
            <a:solidFill>
              <a:srgbClr val="F87171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835640" y="3145536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561320" y="2811780"/>
            <a:ext cx="274320" cy="0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561320" y="2811780"/>
            <a:ext cx="274320" cy="0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561320" y="2811780"/>
            <a:ext cx="274320" cy="580644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61320" y="2075688"/>
            <a:ext cx="0" cy="1316736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08960" y="42519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A2138"/>
          </a:solidFill>
          <a:ln w="1778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24612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  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46120" y="4727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re-aligns drift every 15 min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 flipV="1">
            <a:off x="4251960" y="3291840"/>
            <a:ext cx="960120" cy="96012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760720" y="42519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A2138"/>
          </a:solidFill>
          <a:ln w="1778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Fusion  ★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97880" y="4727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5-frame plate recovery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 flipV="1">
            <a:off x="6903720" y="3291840"/>
            <a:ext cx="2148840" cy="96012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366760" y="42519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A2138"/>
          </a:solidFill>
          <a:ln w="1778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50392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Policy  ★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503920" y="4727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change in &lt;1 min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 flipV="1">
            <a:off x="9509760" y="3291840"/>
            <a:ext cx="0" cy="960120"/>
          </a:xfrm>
          <a:prstGeom prst="line">
            <a:avLst/>
          </a:prstGeom>
          <a:noFill/>
          <a:ln w="19050">
            <a:solidFill>
              <a:srgbClr val="F472B6"/>
            </a:solidFill>
            <a:prstDash val="solid"/>
            <a:headEnd type="none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our contribution</a:t>
            </a:r>
            <a:r>
              <a:rPr lang="en-US" sz="1300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Everything else is a standard YOLO + OCR build.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OFFICER ACTUALLY RECEIVES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packet. One score. One decision.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017520" cy="4160520"/>
          </a:xfrm>
          <a:prstGeom prst="roundRect">
            <a:avLst>
              <a:gd name="adj" fmla="val 3030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5" name="Image 0" descr="fram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37" y="2103120"/>
            <a:ext cx="1563167" cy="2971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frame + GradCAM overlay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68680" y="55046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05 MN 4821</a:t>
            </a:r>
            <a:r>
              <a:rPr lang="en-US" sz="12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2-wheeler   ·   </a:t>
            </a:r>
            <a:r>
              <a:rPr lang="en-US" sz="1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non-compliance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206240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conf.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46520" y="2148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206240" y="27157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conf.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46520" y="27157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206240" y="328269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consensus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46520" y="328269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206240" y="384962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46520" y="38496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206240" y="44165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46520" y="441655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3fa2…c91b  (tamper-evident)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206240" y="5120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§129 helmet  ·  legally defensible without human review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10012680" y="1874520"/>
            <a:ext cx="1783080" cy="4160520"/>
          </a:xfrm>
          <a:prstGeom prst="roundRect">
            <a:avLst>
              <a:gd name="adj" fmla="val 5128"/>
            </a:avLst>
          </a:prstGeom>
          <a:solidFill>
            <a:srgbClr val="1A2138"/>
          </a:solidFill>
          <a:ln w="2286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012680" y="2148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012680" y="2514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8400" dirty="0"/>
          </a:p>
        </p:txBody>
      </p:sp>
      <p:sp>
        <p:nvSpPr>
          <p:cNvPr id="22" name="Text 19"/>
          <p:cNvSpPr/>
          <p:nvPr/>
        </p:nvSpPr>
        <p:spPr>
          <a:xfrm>
            <a:off x="10012680" y="3794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0241280" y="4617720"/>
            <a:ext cx="1325880" cy="566928"/>
          </a:xfrm>
          <a:prstGeom prst="roundRect">
            <a:avLst>
              <a:gd name="adj" fmla="val 12903"/>
            </a:avLst>
          </a:prstGeom>
          <a:solidFill>
            <a:srgbClr val="10241C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41280" y="46177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AUTO-FINE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  <a:latin typeface="Calibri"/>
              </a:rPr>
              <a:t>TRUST ARCHITECTURE     ·     HOW WE EARN THE RIGHT TO AUTO-FINE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We don't issue a single auto-fine until the data earns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3474720" cy="283464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26280" y="1783080"/>
            <a:ext cx="3474720" cy="283464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474720" cy="283464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50731" y="1940990"/>
            <a:ext cx="2683412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SHADOW MODE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919" y="2239749"/>
            <a:ext cx="2919046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F7FA"/>
                </a:solidFill>
                <a:latin typeface="Calibri"/>
              </a:rPr>
              <a:t>Full pipeline live. Zero fines issued.</a:t>
            </a:r>
          </a:p>
          <a:p>
            <a:pPr algn="l"/>
            <a:endParaRPr sz="140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9AA4BF"/>
                </a:solidFill>
                <a:latin typeface="Calibri"/>
              </a:rPr>
              <a:t>Officers adjudicate normally. Their decisions become the ground truth that calibrates the system.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1" i="0" dirty="0">
                <a:solidFill>
                  <a:srgbClr val="F5F7FA"/>
                </a:solidFill>
                <a:latin typeface="Calibri"/>
              </a:rPr>
              <a:t>99% precision gate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on held-out officer labels before any auto-fine goes live.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0" i="1" dirty="0">
                <a:solidFill>
                  <a:srgbClr val="6B7490"/>
                </a:solidFill>
                <a:latin typeface="Calibri"/>
              </a:rPr>
              <a:t>No junction advances to Stage 1 until it </a:t>
            </a:r>
            <a:r>
              <a:rPr sz="1300" b="0" i="1" dirty="0" smtClean="0">
                <a:solidFill>
                  <a:srgbClr val="6B7490"/>
                </a:solidFill>
                <a:latin typeface="Calibri"/>
              </a:rPr>
              <a:t>clears</a:t>
            </a:r>
            <a:endParaRPr sz="1300" b="0" i="1" dirty="0">
              <a:solidFill>
                <a:srgbClr val="6B7490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11614" y="1924197"/>
            <a:ext cx="280650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≤1% WRONGFUL-FINE GUARANTEE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896" y="2239750"/>
            <a:ext cx="2938389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F7FA"/>
                </a:solidFill>
                <a:latin typeface="Calibri"/>
              </a:rPr>
              <a:t>Conformal risk control</a:t>
            </a:r>
          </a:p>
          <a:p>
            <a:pPr algn="l"/>
            <a:endParaRPr sz="140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9AA4BF"/>
                </a:solidFill>
                <a:latin typeface="Calibri"/>
              </a:rPr>
              <a:t>A distribution-free statistical method sets the auto-fine threshold from shadow-mode labels — not from us.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1" i="0" dirty="0">
                <a:solidFill>
                  <a:srgbClr val="34D399"/>
                </a:solidFill>
                <a:latin typeface="Calibri"/>
              </a:rPr>
              <a:t>Provably ≤1% wrongful-fine rate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at 95% confidence. Per violation type.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0" i="1" dirty="0">
                <a:solidFill>
                  <a:srgbClr val="6B7490"/>
                </a:solidFill>
                <a:latin typeface="Calibri"/>
              </a:rPr>
              <a:t>Threshold set by data. Re-validated on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0230" y="1955057"/>
            <a:ext cx="2641209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CITIZEN EVIDENCE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8876" y="2226474"/>
            <a:ext cx="3008728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F7FA"/>
                </a:solidFill>
                <a:latin typeface="Calibri"/>
              </a:rPr>
              <a:t>Every challan has a QR code.</a:t>
            </a:r>
          </a:p>
          <a:p>
            <a:pPr algn="l"/>
            <a:endParaRPr sz="140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9AA4BF"/>
                </a:solidFill>
                <a:latin typeface="Calibri"/>
              </a:rPr>
              <a:t>Owners see the annotated frame, ERS sub-scores, and </a:t>
            </a:r>
            <a:r>
              <a:rPr sz="1300" b="0" i="0" dirty="0" err="1">
                <a:solidFill>
                  <a:srgbClr val="9AA4BF"/>
                </a:solidFill>
                <a:latin typeface="Calibri"/>
              </a:rPr>
              <a:t>GradCAM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overlay — the same view the officer saw.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1" i="0" dirty="0">
                <a:solidFill>
                  <a:srgbClr val="F5F7FA"/>
                </a:solidFill>
                <a:latin typeface="Calibri"/>
              </a:rPr>
              <a:t>Disputes provisionally stay the fine.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Overturns feed directly into recalibration.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0" i="1" dirty="0">
                <a:solidFill>
                  <a:srgbClr val="6B7490"/>
                </a:solidFill>
                <a:latin typeface="Calibri"/>
              </a:rPr>
              <a:t>Citizens fix errors. The system gets harder to fool.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84064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AA4BF"/>
                </a:solidFill>
                <a:latin typeface="Calibri"/>
              </a:rPr>
              <a:t>Hyderabad went live on unvalidated thresholds.</a:t>
            </a:r>
          </a:p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We don't.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  <a:latin typeface="Calibri"/>
              </a:rPr>
              <a:t>DEPLOYMENT PATH     ·     10 JUNCTIONS TO CITY-WIDE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Three phases. Each gated by measurable criteria, not timelines.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3474720" cy="246888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26280" y="1783080"/>
            <a:ext cx="3474720" cy="246888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474720" cy="246888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69476" y="1984248"/>
            <a:ext cx="214532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4D399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68941"/>
            <a:ext cx="3108960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 dirty="0">
                <a:solidFill>
                  <a:srgbClr val="F5F7FA"/>
                </a:solidFill>
                <a:latin typeface="Calibri"/>
              </a:rPr>
              <a:t>10 high-urgency junctions</a:t>
            </a:r>
          </a:p>
          <a:p>
            <a:pPr algn="l"/>
            <a:endParaRPr sz="145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250" b="0" i="0" dirty="0">
                <a:solidFill>
                  <a:srgbClr val="9AA4BF"/>
                </a:solidFill>
                <a:latin typeface="Calibri"/>
              </a:rPr>
              <a:t>Top 10 by enforcement load from Police Violations Dataset. Real rows — auditable, not guessed.</a:t>
            </a:r>
          </a:p>
          <a:p>
            <a:pPr algn="l"/>
            <a:endParaRPr sz="125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250" b="1" i="0" dirty="0">
                <a:solidFill>
                  <a:srgbClr val="9AA4BF"/>
                </a:solidFill>
                <a:latin typeface="Calibri"/>
              </a:rPr>
              <a:t>Gate: </a:t>
            </a:r>
            <a:r>
              <a:rPr sz="1250" b="1" i="0" dirty="0" err="1">
                <a:solidFill>
                  <a:srgbClr val="34D399"/>
                </a:solidFill>
                <a:latin typeface="Calibri"/>
              </a:rPr>
              <a:t>mAP</a:t>
            </a:r>
            <a:r>
              <a:rPr sz="1250" b="1" i="0" dirty="0">
                <a:solidFill>
                  <a:srgbClr val="34D399"/>
                </a:solidFill>
                <a:latin typeface="Calibri"/>
              </a:rPr>
              <a:t> ≥ 0.85 + auto-fine precision ≥ 99</a:t>
            </a:r>
            <a:r>
              <a:rPr sz="1250" b="1" i="0" dirty="0" smtClean="0">
                <a:solidFill>
                  <a:srgbClr val="34D399"/>
                </a:solidFill>
                <a:latin typeface="Calibri"/>
              </a:rPr>
              <a:t>%</a:t>
            </a:r>
            <a:endParaRPr sz="1250" b="1" i="0" dirty="0">
              <a:solidFill>
                <a:srgbClr val="34D399"/>
              </a:solidFill>
              <a:latin typeface="Calibri"/>
            </a:endParaRPr>
          </a:p>
          <a:p>
            <a:pPr algn="l"/>
            <a:r>
              <a:rPr sz="1250" b="0" i="1" dirty="0">
                <a:solidFill>
                  <a:srgbClr val="6B7490"/>
                </a:solidFill>
                <a:latin typeface="Calibri"/>
              </a:rPr>
              <a:t>Stage 0 shadow → Stage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1 </a:t>
            </a:r>
            <a:r>
              <a:rPr sz="1250" b="0" i="1" dirty="0">
                <a:solidFill>
                  <a:srgbClr val="6B7490"/>
                </a:solidFill>
                <a:latin typeface="Calibri"/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0508" y="1984248"/>
            <a:ext cx="199761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FBBF24"/>
                </a:solidFill>
                <a:latin typeface="Calibri"/>
              </a:rP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328053"/>
            <a:ext cx="3108960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 dirty="0">
                <a:solidFill>
                  <a:srgbClr val="F5F7FA"/>
                </a:solidFill>
                <a:latin typeface="Calibri"/>
              </a:rPr>
              <a:t>50 junctions</a:t>
            </a:r>
          </a:p>
          <a:p>
            <a:pPr algn="l"/>
            <a:endParaRPr sz="145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250" b="0" i="0" dirty="0">
                <a:solidFill>
                  <a:srgbClr val="9AA4BF"/>
                </a:solidFill>
                <a:latin typeface="Calibri"/>
              </a:rPr>
              <a:t>Selected by live Sentinel-BLR urgency scores, not manual survey.</a:t>
            </a:r>
          </a:p>
          <a:p>
            <a:pPr algn="l"/>
            <a:endParaRPr sz="125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250" b="1" i="0" dirty="0">
                <a:solidFill>
                  <a:srgbClr val="9AA4BF"/>
                </a:solidFill>
                <a:latin typeface="Calibri"/>
              </a:rPr>
              <a:t>Gate: </a:t>
            </a:r>
            <a:r>
              <a:rPr sz="1250" b="1" i="0" dirty="0">
                <a:solidFill>
                  <a:srgbClr val="FBBF24"/>
                </a:solidFill>
                <a:latin typeface="Calibri"/>
              </a:rPr>
              <a:t>synthetic priors fully replaced by local field data</a:t>
            </a:r>
          </a:p>
          <a:p>
            <a:pPr algn="l"/>
            <a:endParaRPr sz="1250" b="1" i="0" dirty="0">
              <a:solidFill>
                <a:srgbClr val="FBBF24"/>
              </a:solidFill>
              <a:latin typeface="Calibri"/>
            </a:endParaRPr>
          </a:p>
          <a:p>
            <a:pPr algn="l"/>
            <a:r>
              <a:rPr lang="en-US" sz="1250" b="0" i="1" dirty="0" smtClean="0">
                <a:solidFill>
                  <a:srgbClr val="6B7490"/>
                </a:solidFill>
                <a:latin typeface="Calibri"/>
              </a:rPr>
              <a:t>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within </a:t>
            </a:r>
            <a:r>
              <a:rPr sz="1250" b="0" i="1" dirty="0">
                <a:solidFill>
                  <a:srgbClr val="6B7490"/>
                </a:solidFill>
                <a:latin typeface="Calibri"/>
              </a:rPr>
              <a:t>30 days of Phase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1</a:t>
            </a:r>
            <a:endParaRPr sz="1250" b="0" i="1" dirty="0">
              <a:solidFill>
                <a:srgbClr val="6B7490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522068" y="1984248"/>
            <a:ext cx="199937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PHASE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257683"/>
            <a:ext cx="3108960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 dirty="0">
                <a:solidFill>
                  <a:srgbClr val="F5F7FA"/>
                </a:solidFill>
                <a:latin typeface="Calibri"/>
              </a:rPr>
              <a:t>City-wide rollout</a:t>
            </a:r>
          </a:p>
          <a:p>
            <a:pPr algn="l"/>
            <a:endParaRPr sz="145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250" b="0" i="0" dirty="0">
                <a:solidFill>
                  <a:srgbClr val="9AA4BF"/>
                </a:solidFill>
                <a:latin typeface="Calibri"/>
              </a:rPr>
              <a:t>Multi-angle coverage recommended by Layer 9 analytics, not manual deployment decisions.</a:t>
            </a:r>
          </a:p>
          <a:p>
            <a:pPr algn="l"/>
            <a:endParaRPr sz="125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250" b="1" i="0" dirty="0">
                <a:solidFill>
                  <a:srgbClr val="9AA4BF"/>
                </a:solidFill>
                <a:latin typeface="Calibri"/>
              </a:rPr>
              <a:t>Gate: </a:t>
            </a:r>
            <a:r>
              <a:rPr sz="1250" b="1" i="0" dirty="0">
                <a:solidFill>
                  <a:srgbClr val="A78BFA"/>
                </a:solidFill>
                <a:latin typeface="Calibri"/>
              </a:rPr>
              <a:t>infrastructure cost grows linearly or </a:t>
            </a:r>
            <a:r>
              <a:rPr sz="1250" b="1" i="0" dirty="0" smtClean="0">
                <a:solidFill>
                  <a:srgbClr val="A78BFA"/>
                </a:solidFill>
                <a:latin typeface="Calibri"/>
              </a:rPr>
              <a:t>sub-linearly</a:t>
            </a:r>
            <a:endParaRPr sz="1250" b="1" i="0" dirty="0">
              <a:solidFill>
                <a:srgbClr val="A78BFA"/>
              </a:solidFill>
              <a:latin typeface="Calibri"/>
            </a:endParaRPr>
          </a:p>
          <a:p>
            <a:pPr algn="l"/>
            <a:r>
              <a:rPr sz="1250" b="0" i="1" dirty="0">
                <a:solidFill>
                  <a:srgbClr val="6B7490"/>
                </a:solidFill>
                <a:latin typeface="Calibri"/>
              </a:rPr>
              <a:t>Same architecture — no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rebuild</a:t>
            </a:r>
            <a:r>
              <a:rPr lang="en-US" sz="1250" b="0" i="1" dirty="0" smtClean="0">
                <a:solidFill>
                  <a:srgbClr val="6B7490"/>
                </a:solidFill>
                <a:latin typeface="Calibri"/>
              </a:rPr>
              <a:t> </a:t>
            </a:r>
            <a:endParaRPr sz="1250" b="0" i="1" dirty="0">
              <a:solidFill>
                <a:srgbClr val="6B7490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2960" y="4434840"/>
            <a:ext cx="10515600" cy="1097280"/>
          </a:xfrm>
          <a:prstGeom prst="roundRect">
            <a:avLst>
              <a:gd name="adj" fmla="val 30000"/>
            </a:avLst>
          </a:prstGeom>
          <a:solidFill>
            <a:srgbClr val="1A2138"/>
          </a:solidFill>
          <a:ln w="12700">
            <a:solidFill>
              <a:srgbClr val="2A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4BF"/>
                </a:solidFill>
                <a:latin typeface="Calibri"/>
              </a:rPr>
              <a:t>Hardware cost (Phase 1, 10 junctions): </a:t>
            </a:r>
            <a:r>
              <a:rPr sz="1400" b="1" i="0">
                <a:solidFill>
                  <a:srgbClr val="F5F7FA"/>
                </a:solidFill>
                <a:latin typeface="Calibri"/>
              </a:rPr>
              <a:t>low lakhs.</a:t>
            </a:r>
          </a:p>
          <a:p>
            <a:pPr algn="l"/>
            <a:endParaRPr sz="1400" b="1" i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9AA4BF"/>
                </a:solidFill>
                <a:latin typeface="Calibri"/>
              </a:rPr>
              <a:t>Jetson Orin NX ~₹50–80K/unit. </a:t>
            </a:r>
            <a:r>
              <a:rPr sz="1300" b="1" i="0">
                <a:solidFill>
                  <a:srgbClr val="F5F7FA"/>
                </a:solidFill>
                <a:latin typeface="Calibri"/>
              </a:rPr>
              <a:t>Sits on top of BTP's existing CCTV feeds — no camera replacement.</a:t>
            </a:r>
            <a:r>
              <a:rPr sz="1300" b="0" i="0">
                <a:solidFill>
                  <a:srgbClr val="9AA4BF"/>
                </a:solidFill>
                <a:latin typeface="Calibri"/>
              </a:rPr>
              <a:t>  Not a multi-crore infrastructure commitment.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31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systems decide whether to fine.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decides whether it </a:t>
            </a:r>
            <a:r>
              <a:rPr lang="en-US" sz="4000" b="1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r>
              <a:rPr lang="en-US" sz="4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it knows when it's wrong.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SENTINEL-BLR</a:t>
            </a:r>
            <a:r>
              <a:rPr lang="en-US" sz="1600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r>
              <a:rPr lang="en-US" sz="1600" smtClean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Team_Rocket</a:t>
            </a:r>
            <a:r>
              <a:rPr lang="en-US" sz="1600" dirty="0" smtClean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600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Flipkart Gridlock 2.0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1084</Words>
  <Application>Microsoft Office PowerPoint</Application>
  <PresentationFormat>Widescreen</PresentationFormat>
  <Paragraphs>138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Sentinel-BLR</dc:title>
  <dc:subject>PptxGenJS Presentation</dc:subject>
  <dc:creator>Team Rocket</dc:creator>
  <cp:lastModifiedBy>LENOVO</cp:lastModifiedBy>
  <cp:revision>3</cp:revision>
  <dcterms:created xsi:type="dcterms:W3CDTF">2026-06-20T04:56:29Z</dcterms:created>
  <dcterms:modified xsi:type="dcterms:W3CDTF">2026-06-22T15:52:49Z</dcterms:modified>
</cp:coreProperties>
</file>